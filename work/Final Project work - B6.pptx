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00" r:id="rId5"/>
    <p:sldId id="301" r:id="rId6"/>
    <p:sldId id="302" r:id="rId7"/>
    <p:sldId id="304" r:id="rId8"/>
    <p:sldId id="306" r:id="rId9"/>
    <p:sldId id="307" r:id="rId10"/>
    <p:sldId id="308" r:id="rId11"/>
    <p:sldId id="3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F5D1A-D5DC-4CB6-8210-97CFF4D3AB99}" v="12" dt="2026-02-01T05:51:45.044"/>
  </p1510:revLst>
</p1510:revInfo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82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8/layout/LinedList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707D150-59C5-7547-A2DD-E2FA2E7973D8}" type="pres">
      <dgm:prSet presAssocID="{B6A966AA-C2D0-420D-89FC-1A1AB0AD4072}" presName="vert0" presStyleCnt="0">
        <dgm:presLayoutVars>
          <dgm:dir/>
          <dgm:animOne val="branch"/>
          <dgm:animLvl val="lvl"/>
        </dgm:presLayoutVars>
      </dgm:prSet>
      <dgm:spPr/>
    </dgm:pt>
  </dgm:ptLst>
  <dgm:cxnLst>
    <dgm:cxn modelId="{74AAFFE8-8567-AB43-94BA-27A110E91DEB}" type="presOf" srcId="{B6A966AA-C2D0-420D-89FC-1A1AB0AD4072}" destId="{6707D150-59C5-7547-A2DD-E2FA2E7973D8}" srcOrd="0" destOrd="0" presId="urn:microsoft.com/office/officeart/2008/layout/Lin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712B4-1AE0-734B-BD0B-ED5EB8FC3B80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Add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09567-0710-7949-BFB0-34B4188750EB}" type="datetime1">
              <a:rPr lang="en-US" noProof="0" smtClean="0"/>
              <a:t>1/31/2026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noProof="0" dirty="0"/>
              <a:t>Add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89336" cy="3383280"/>
          </a:xfrm>
        </p:spPr>
        <p:txBody>
          <a:bodyPr lIns="91440" tIns="45720" rIns="91440" bIns="45720" anchor="t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4718304"/>
            <a:ext cx="5367528" cy="13716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D2B87EC-C19D-D312-C5D1-68C7B3D3F3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577" r="47068" b="26177"/>
          <a:stretch/>
        </p:blipFill>
        <p:spPr>
          <a:xfrm rot="5400000" flipH="1" flipV="1">
            <a:off x="8037001" y="-183083"/>
            <a:ext cx="3971922" cy="43380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A27C1C0-4175-DDF3-7F04-05A1FF4F8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t="1" r="26660" b="31913"/>
          <a:stretch/>
        </p:blipFill>
        <p:spPr>
          <a:xfrm flipH="1">
            <a:off x="-2" y="2786671"/>
            <a:ext cx="2626743" cy="407133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F59A96A-1EEC-D106-BC8B-FBC3D022D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49606"/>
          <a:stretch/>
        </p:blipFill>
        <p:spPr>
          <a:xfrm flipH="1">
            <a:off x="1634272" y="4519948"/>
            <a:ext cx="3527989" cy="23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8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</p:spTree>
    <p:extLst>
      <p:ext uri="{BB962C8B-B14F-4D97-AF65-F5344CB8AC3E}">
        <p14:creationId xmlns:p14="http://schemas.microsoft.com/office/powerpoint/2010/main" val="305501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040" y="996696"/>
            <a:ext cx="6528816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C7080A-051C-2507-F252-F68346430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96950"/>
            <a:ext cx="3971925" cy="5857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19472" y="2130552"/>
            <a:ext cx="6510528" cy="3959352"/>
          </a:xfrm>
        </p:spPr>
        <p:txBody>
          <a:bodyPr anchor="b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12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1691640"/>
            <a:ext cx="7708392" cy="2916936"/>
          </a:xfrm>
        </p:spPr>
        <p:txBody>
          <a:bodyPr lIns="91440" tIns="45720" rIns="91440" bIns="45720"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5296" y="5001768"/>
            <a:ext cx="7251192" cy="1088136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BCB114-3994-3B78-91C3-3970219AB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5397" b="35439"/>
          <a:stretch/>
        </p:blipFill>
        <p:spPr>
          <a:xfrm rot="16200000">
            <a:off x="8573175" y="595473"/>
            <a:ext cx="3527989" cy="370966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954D399-E3CD-888F-FCF9-DA0F34C64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5157" b="13214"/>
          <a:stretch/>
        </p:blipFill>
        <p:spPr>
          <a:xfrm>
            <a:off x="8329613" y="3429000"/>
            <a:ext cx="3862387" cy="3429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CC75E85-8A16-65D2-BB9D-7966D18A9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" r="47260" b="26651"/>
          <a:stretch/>
        </p:blipFill>
        <p:spPr>
          <a:xfrm rot="16200000" flipV="1">
            <a:off x="197728" y="-197735"/>
            <a:ext cx="3914776" cy="43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8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30552"/>
            <a:ext cx="4910328" cy="395935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9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996696"/>
            <a:ext cx="5641848" cy="4855464"/>
          </a:xfrm>
        </p:spPr>
        <p:txBody>
          <a:bodyPr lIns="91440" tIns="45720" rIns="91440" bIns="4572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7" name="Picture Placeholder 926">
            <a:extLst>
              <a:ext uri="{FF2B5EF4-FFF2-40B4-BE49-F238E27FC236}">
                <a16:creationId xmlns:a16="http://schemas.microsoft.com/office/drawing/2014/main" id="{E0D9F5FD-31A3-F83E-0559-2C0434E004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0"/>
            <a:ext cx="3971925" cy="5857875"/>
          </a:xfrm>
          <a:custGeom>
            <a:avLst/>
            <a:gdLst>
              <a:gd name="connsiteX0" fmla="*/ 0 w 3971925"/>
              <a:gd name="connsiteY0" fmla="*/ 0 h 5857875"/>
              <a:gd name="connsiteX1" fmla="*/ 3971925 w 3971925"/>
              <a:gd name="connsiteY1" fmla="*/ 0 h 5857875"/>
              <a:gd name="connsiteX2" fmla="*/ 3971925 w 3971925"/>
              <a:gd name="connsiteY2" fmla="*/ 5857875 h 5857875"/>
              <a:gd name="connsiteX3" fmla="*/ 1972187 w 3971925"/>
              <a:gd name="connsiteY3" fmla="*/ 5857875 h 5857875"/>
              <a:gd name="connsiteX4" fmla="*/ 1978760 w 3971925"/>
              <a:gd name="connsiteY4" fmla="*/ 5848548 h 5857875"/>
              <a:gd name="connsiteX5" fmla="*/ 2015275 w 3971925"/>
              <a:gd name="connsiteY5" fmla="*/ 5713664 h 5857875"/>
              <a:gd name="connsiteX6" fmla="*/ 2015275 w 3971925"/>
              <a:gd name="connsiteY6" fmla="*/ 5713663 h 5857875"/>
              <a:gd name="connsiteX7" fmla="*/ 2010932 w 3971925"/>
              <a:gd name="connsiteY7" fmla="*/ 5713083 h 5857875"/>
              <a:gd name="connsiteX8" fmla="*/ 2010064 w 3971925"/>
              <a:gd name="connsiteY8" fmla="*/ 5713083 h 5857875"/>
              <a:gd name="connsiteX9" fmla="*/ 1871116 w 3971925"/>
              <a:gd name="connsiteY9" fmla="*/ 5759476 h 5857875"/>
              <a:gd name="connsiteX10" fmla="*/ 1753300 w 3971925"/>
              <a:gd name="connsiteY10" fmla="*/ 5793691 h 5857875"/>
              <a:gd name="connsiteX11" fmla="*/ 1717404 w 3971925"/>
              <a:gd name="connsiteY11" fmla="*/ 5835082 h 5857875"/>
              <a:gd name="connsiteX12" fmla="*/ 1704691 w 3971925"/>
              <a:gd name="connsiteY12" fmla="*/ 5857875 h 5857875"/>
              <a:gd name="connsiteX13" fmla="*/ 0 w 3971925"/>
              <a:gd name="connsiteY1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71925" h="5857875">
                <a:moveTo>
                  <a:pt x="0" y="0"/>
                </a:moveTo>
                <a:lnTo>
                  <a:pt x="3971925" y="0"/>
                </a:lnTo>
                <a:lnTo>
                  <a:pt x="3971925" y="5857875"/>
                </a:lnTo>
                <a:lnTo>
                  <a:pt x="1972187" y="5857875"/>
                </a:lnTo>
                <a:lnTo>
                  <a:pt x="1978760" y="5848548"/>
                </a:lnTo>
                <a:cubicBezTo>
                  <a:pt x="2003551" y="5807990"/>
                  <a:pt x="2018531" y="5763681"/>
                  <a:pt x="2015275" y="5713664"/>
                </a:cubicBezTo>
                <a:lnTo>
                  <a:pt x="2015275" y="5713663"/>
                </a:lnTo>
                <a:cubicBezTo>
                  <a:pt x="2015275" y="5711343"/>
                  <a:pt x="2011801" y="5711343"/>
                  <a:pt x="2010932" y="5713083"/>
                </a:cubicBezTo>
                <a:cubicBezTo>
                  <a:pt x="2010643" y="5713083"/>
                  <a:pt x="2010354" y="5713083"/>
                  <a:pt x="2010064" y="5713083"/>
                </a:cubicBezTo>
                <a:cubicBezTo>
                  <a:pt x="1966643" y="5741499"/>
                  <a:pt x="1921774" y="5751937"/>
                  <a:pt x="1871116" y="5759476"/>
                </a:cubicBezTo>
                <a:cubicBezTo>
                  <a:pt x="1832326" y="5765275"/>
                  <a:pt x="1786010" y="5769045"/>
                  <a:pt x="1753300" y="5793691"/>
                </a:cubicBezTo>
                <a:cubicBezTo>
                  <a:pt x="1738970" y="5804419"/>
                  <a:pt x="1727463" y="5819134"/>
                  <a:pt x="1717404" y="5835082"/>
                </a:cubicBezTo>
                <a:lnTo>
                  <a:pt x="1704691" y="5857875"/>
                </a:lnTo>
                <a:lnTo>
                  <a:pt x="0" y="585787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E730C61-B0A5-15E4-EBDC-4DAA74F02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52" b="34005"/>
          <a:stretch/>
        </p:blipFill>
        <p:spPr>
          <a:xfrm rot="5400000" flipH="1" flipV="1">
            <a:off x="9278992" y="3944992"/>
            <a:ext cx="2764120" cy="3061895"/>
          </a:xfrm>
          <a:prstGeom prst="rect">
            <a:avLst/>
          </a:prstGeom>
        </p:spPr>
      </p:pic>
      <p:pic>
        <p:nvPicPr>
          <p:cNvPr id="876" name="Graphic 875">
            <a:extLst>
              <a:ext uri="{FF2B5EF4-FFF2-40B4-BE49-F238E27FC236}">
                <a16:creationId xmlns:a16="http://schemas.microsoft.com/office/drawing/2014/main" id="{1AD600CE-8F3B-12A6-46EE-EFDBB7A1BB9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3805" b="26651"/>
          <a:stretch/>
        </p:blipFill>
        <p:spPr>
          <a:xfrm rot="5400000">
            <a:off x="440621" y="2988379"/>
            <a:ext cx="3428999" cy="43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153E704-93AB-7E5D-6EB0-56FA23E7BC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130552"/>
            <a:ext cx="5641848" cy="39593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70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8B6212-D12B-E47E-327B-D1DDE7D71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910328" cy="39593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8B6212-D12B-E47E-327B-D1DDE7D71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206240" cy="3959352"/>
          </a:xfrm>
        </p:spPr>
        <p:txBody>
          <a:bodyPr anchor="t"/>
          <a:lstStyle>
            <a:lvl1pPr marL="347472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32" y="2176272"/>
            <a:ext cx="5907024" cy="39593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3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76272"/>
            <a:ext cx="10652760" cy="39593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1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8668512" cy="2432304"/>
          </a:xfrm>
        </p:spPr>
        <p:txBody>
          <a:bodyPr lIns="91440" tIns="45720" rIns="91440" bIns="45720" anchor="t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3429000"/>
            <a:ext cx="5340096" cy="2660904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291867A-07AF-138A-AC57-59D328A609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22" r="19404" b="26232"/>
          <a:stretch/>
        </p:blipFill>
        <p:spPr>
          <a:xfrm rot="5400000" flipH="1" flipV="1">
            <a:off x="8651875" y="625473"/>
            <a:ext cx="4165601" cy="291465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7C5AD9-C0FD-61EF-DDC7-8F4701419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33" t="-8495" r="43883" b="25558"/>
          <a:stretch/>
        </p:blipFill>
        <p:spPr>
          <a:xfrm>
            <a:off x="10201275" y="1898651"/>
            <a:ext cx="1990725" cy="495934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398A539-AF73-E115-3EDF-231BC59E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027" t="1169" r="27094" b="32980"/>
          <a:stretch/>
        </p:blipFill>
        <p:spPr>
          <a:xfrm rot="10800000" flipV="1">
            <a:off x="-1" y="2988379"/>
            <a:ext cx="5335584" cy="386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6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096" y="2450591"/>
            <a:ext cx="10652761" cy="34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00800"/>
            <a:ext cx="457200" cy="4572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200" b="1" i="0" smtClean="0">
                <a:solidFill>
                  <a:schemeClr val="accent3"/>
                </a:solidFill>
                <a:latin typeface="+mn-lt"/>
              </a:defRPr>
            </a:lvl1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E99AD-9348-1084-6E11-26968BDE3782}"/>
              </a:ext>
            </a:extLst>
          </p:cNvPr>
          <p:cNvSpPr txBox="1"/>
          <p:nvPr userDrawn="1"/>
        </p:nvSpPr>
        <p:spPr>
          <a:xfrm>
            <a:off x="11741419" y="-1537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4000" b="0" dirty="0">
                <a:solidFill>
                  <a:schemeClr val="accent3"/>
                </a:solidFill>
                <a:latin typeface="+mn-lt"/>
                <a:ea typeface="BIZ UDPGothic" panose="020B0400000000000000" pitchFamily="34" charset="-128"/>
              </a:rPr>
              <a:t>*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047422-8CC9-77AE-C87B-852011B8253E}"/>
              </a:ext>
            </a:extLst>
          </p:cNvPr>
          <p:cNvCxnSpPr>
            <a:cxnSpLocks/>
          </p:cNvCxnSpPr>
          <p:nvPr userDrawn="1"/>
        </p:nvCxnSpPr>
        <p:spPr>
          <a:xfrm>
            <a:off x="0" y="457200"/>
            <a:ext cx="121920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C25401-8B16-54B2-8DFB-324B1C3F7DD3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0"/>
            <a:ext cx="0" cy="685800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702C82C-C24B-9094-A3C6-7670E28B8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8991601" y="3200399"/>
            <a:ext cx="5943596" cy="457199"/>
          </a:xfrm>
          <a:prstGeom prst="rect">
            <a:avLst/>
          </a:prstGeom>
        </p:spPr>
        <p:txBody>
          <a:bodyPr anchor="ctr"/>
          <a:lstStyle>
            <a:lvl1pPr algn="ctr">
              <a:defRPr sz="1200" b="1" i="0" spc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Add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4000" b="1" kern="1200" spc="-15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0570-13B1-E20C-28EA-4514891D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89336" cy="3383280"/>
          </a:xfrm>
        </p:spPr>
        <p:txBody>
          <a:bodyPr/>
          <a:lstStyle/>
          <a:p>
            <a:r>
              <a:rPr lang="en-US" sz="3200" dirty="0"/>
              <a:t>An Exploratory Analysis of Food Insecurity Patterns in Ghana.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Programming for Data Scientists 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97285-76D8-7E4B-5301-2C5C7F50D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8057" y="4190999"/>
            <a:ext cx="6328519" cy="2481943"/>
          </a:xfrm>
        </p:spPr>
        <p:txBody>
          <a:bodyPr/>
          <a:lstStyle/>
          <a:p>
            <a:r>
              <a:rPr lang="en-US" dirty="0"/>
              <a:t>Group B6 </a:t>
            </a:r>
          </a:p>
          <a:p>
            <a:pPr marL="342900" indent="-342900">
              <a:buAutoNum type="arabicPeriod"/>
            </a:pPr>
            <a:r>
              <a:rPr lang="en-US" dirty="0"/>
              <a:t>Masuda </a:t>
            </a:r>
            <a:r>
              <a:rPr lang="en-US" dirty="0" err="1"/>
              <a:t>Tuntaya</a:t>
            </a:r>
            <a:r>
              <a:rPr lang="en-US" dirty="0"/>
              <a:t> Mashoud </a:t>
            </a:r>
          </a:p>
          <a:p>
            <a:pPr marL="342900" indent="-342900">
              <a:buAutoNum type="arabicPeriod"/>
            </a:pPr>
            <a:r>
              <a:rPr lang="en-US" dirty="0"/>
              <a:t>Bernard Kofi Ofori </a:t>
            </a:r>
            <a:r>
              <a:rPr lang="en-US" dirty="0" err="1"/>
              <a:t>Essiamah</a:t>
            </a:r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/>
              <a:t>Cephas Amoako </a:t>
            </a:r>
            <a:r>
              <a:rPr lang="en-US" dirty="0" err="1"/>
              <a:t>Dakwa</a:t>
            </a:r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/>
              <a:t>Philemon Elikem </a:t>
            </a:r>
            <a:r>
              <a:rPr lang="en-US" dirty="0" err="1"/>
              <a:t>Kordorwu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834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35764A-06BF-17D4-EE6D-670F5F3F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en-US" dirty="0"/>
              <a:t>Food Insecurity in Ghana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3696-52AB-4FB9-4BF7-D8F7C8A7567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286" y="1611084"/>
            <a:ext cx="11571514" cy="5159830"/>
          </a:xfrm>
        </p:spPr>
        <p:txBody>
          <a:bodyPr>
            <a:normAutofit fontScale="92500"/>
          </a:bodyPr>
          <a:lstStyle/>
          <a:p>
            <a:r>
              <a:rPr lang="en-US" sz="3600" dirty="0"/>
              <a:t>Food insecurity is defined as the lack of consistent access to adequate, safe and nutritious food. About 36.6% of households are food insecure and more than 800,000 families are affected. </a:t>
            </a:r>
          </a:p>
          <a:p>
            <a:r>
              <a:rPr lang="en-US" sz="3600" dirty="0"/>
              <a:t>This has resulted in significant malnutrition and poor health. </a:t>
            </a:r>
          </a:p>
          <a:p>
            <a:r>
              <a:rPr lang="en-US" sz="3600" dirty="0"/>
              <a:t>However, Ghana is committed to the SDG Goal zero hunger by 2030 to help reduce food insecurity.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DF6CA-8CF2-F784-C54C-19B539623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57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B338E8-1DBC-0FE2-455A-82806A977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6554" y="659239"/>
            <a:ext cx="6528816" cy="914400"/>
          </a:xfrm>
        </p:spPr>
        <p:txBody>
          <a:bodyPr/>
          <a:lstStyle/>
          <a:p>
            <a:r>
              <a:rPr lang="en-US" dirty="0"/>
              <a:t>Our 5-Dimensional Analysis 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22479-F5E2-4107-7904-F66C64FF2C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E814BD-1714-A630-6431-EF54C859FBE2}"/>
              </a:ext>
            </a:extLst>
          </p:cNvPr>
          <p:cNvSpPr txBox="1"/>
          <p:nvPr/>
        </p:nvSpPr>
        <p:spPr>
          <a:xfrm>
            <a:off x="56934" y="1573639"/>
            <a:ext cx="24601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Q1</a:t>
            </a:r>
          </a:p>
          <a:p>
            <a:r>
              <a:rPr lang="en-US" sz="2400" b="1" dirty="0"/>
              <a:t>    Geography</a:t>
            </a:r>
          </a:p>
          <a:p>
            <a:r>
              <a:rPr lang="en-US" sz="2400" b="1" dirty="0"/>
              <a:t>How does it vary across regions? </a:t>
            </a:r>
          </a:p>
          <a:p>
            <a:endParaRPr lang="en-US" sz="2400" b="1" dirty="0"/>
          </a:p>
          <a:p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B6AACD-55BB-96A5-A569-CE8B506B95AA}"/>
              </a:ext>
            </a:extLst>
          </p:cNvPr>
          <p:cNvSpPr txBox="1"/>
          <p:nvPr/>
        </p:nvSpPr>
        <p:spPr>
          <a:xfrm>
            <a:off x="3363686" y="1712138"/>
            <a:ext cx="2623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Q2 </a:t>
            </a:r>
          </a:p>
          <a:p>
            <a:r>
              <a:rPr lang="en-US" sz="2000" b="1" dirty="0"/>
              <a:t>     Wealth</a:t>
            </a:r>
          </a:p>
          <a:p>
            <a:r>
              <a:rPr lang="en-US" sz="2000" b="1" dirty="0"/>
              <a:t>Does wealth protect you?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BC5C42-8F91-364B-1F5C-26E1BB04D28C}"/>
              </a:ext>
            </a:extLst>
          </p:cNvPr>
          <p:cNvSpPr txBox="1"/>
          <p:nvPr/>
        </p:nvSpPr>
        <p:spPr>
          <a:xfrm>
            <a:off x="6833723" y="1712138"/>
            <a:ext cx="2460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Q3</a:t>
            </a:r>
          </a:p>
          <a:p>
            <a:r>
              <a:rPr lang="en-US" sz="2000" b="1" dirty="0"/>
              <a:t>    Education</a:t>
            </a:r>
          </a:p>
          <a:p>
            <a:r>
              <a:rPr lang="en-US" sz="2000" b="1" dirty="0"/>
              <a:t>Does school help?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3A111F-8998-4EE6-D3D6-41FF5F8070E1}"/>
              </a:ext>
            </a:extLst>
          </p:cNvPr>
          <p:cNvSpPr txBox="1"/>
          <p:nvPr/>
        </p:nvSpPr>
        <p:spPr>
          <a:xfrm>
            <a:off x="-38533" y="4005943"/>
            <a:ext cx="234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Q4</a:t>
            </a:r>
          </a:p>
          <a:p>
            <a:r>
              <a:rPr lang="en-US" sz="2400" b="1" dirty="0"/>
              <a:t>   Multiple Deprivations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Do problems come in groups ?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B3A3E4-1832-CCEE-11C1-58701CF16072}"/>
              </a:ext>
            </a:extLst>
          </p:cNvPr>
          <p:cNvSpPr txBox="1"/>
          <p:nvPr/>
        </p:nvSpPr>
        <p:spPr>
          <a:xfrm>
            <a:off x="3189514" y="4005943"/>
            <a:ext cx="24275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Q5 </a:t>
            </a:r>
          </a:p>
          <a:p>
            <a:r>
              <a:rPr lang="en-US" sz="2400" b="1" dirty="0"/>
              <a:t>Urban / Rural</a:t>
            </a:r>
          </a:p>
          <a:p>
            <a:r>
              <a:rPr lang="en-US" sz="2400" b="1" dirty="0"/>
              <a:t> Are the cities different from the villages?</a:t>
            </a:r>
          </a:p>
          <a:p>
            <a:endParaRPr 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B765E0-0E65-B310-5C65-D7FF898653AA}"/>
              </a:ext>
            </a:extLst>
          </p:cNvPr>
          <p:cNvSpPr txBox="1"/>
          <p:nvPr/>
        </p:nvSpPr>
        <p:spPr>
          <a:xfrm>
            <a:off x="2996293" y="3179019"/>
            <a:ext cx="6275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61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6FD60E-B013-52DF-354C-D8DB8814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en-US" dirty="0"/>
              <a:t>REGIONAL INEQUALITTY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58F60E-7809-E81E-9EF6-F45D9C74A36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09919" y="1625076"/>
            <a:ext cx="11370945" cy="49281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775CAD-60B4-E2CC-3451-3AB56951D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5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4F4A17-E5E3-3BBB-506A-67A82AC5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91896"/>
            <a:ext cx="9703961" cy="538190"/>
          </a:xfrm>
        </p:spPr>
        <p:txBody>
          <a:bodyPr/>
          <a:lstStyle/>
          <a:p>
            <a:r>
              <a:rPr lang="en-US" dirty="0"/>
              <a:t>Socio-economic status and food insecurity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DD2FEE-CF47-A509-59FE-1CBDAAF01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75D6A83-7BD0-9421-0643-7D67B1391E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666" r="2666"/>
          <a:stretch>
            <a:fillRect/>
          </a:stretch>
        </p:blipFill>
        <p:spPr>
          <a:xfrm>
            <a:off x="914401" y="1572695"/>
            <a:ext cx="9329056" cy="523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74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C7F6E0-EEF5-DF18-032D-5675E3E4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157" y="768096"/>
            <a:ext cx="9406129" cy="516418"/>
          </a:xfrm>
        </p:spPr>
        <p:txBody>
          <a:bodyPr/>
          <a:lstStyle/>
          <a:p>
            <a:r>
              <a:rPr lang="en-US" dirty="0"/>
              <a:t>Education level / Deprivation and food insecurity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89D3A8-1708-7AA9-6774-1A3052B8444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13177" y="2341027"/>
            <a:ext cx="6046109" cy="3500557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CDE8891-C211-238F-DB52-11A3F6EEBF9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6849022" y="2130425"/>
            <a:ext cx="4251819" cy="395922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545BCC-4C94-3446-15B2-D4D6FF9B0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735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E4F035-A84E-C603-942E-4778256E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en-US" sz="2000" dirty="0"/>
              <a:t>RURAL-URBAN ASSET DISTRIBUTION AND FOOD INSECURITY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4" descr="Lined list SmartArt graphic">
            <a:extLst>
              <a:ext uri="{FF2B5EF4-FFF2-40B4-BE49-F238E27FC236}">
                <a16:creationId xmlns:a16="http://schemas.microsoft.com/office/drawing/2014/main" id="{429EF91E-B8F9-2316-423F-22F41E81A65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467018800"/>
              </p:ext>
            </p:extLst>
          </p:nvPr>
        </p:nvGraphicFramePr>
        <p:xfrm>
          <a:off x="130630" y="1534887"/>
          <a:ext cx="11289846" cy="521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A187C4-2E9C-38FD-AFCE-B470CF80D6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511C1-1C88-4053-5C66-A05692E76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01" y="1769995"/>
            <a:ext cx="11461927" cy="399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0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64BB4-E786-4620-FD91-9376C333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001" y="768096"/>
            <a:ext cx="7419486" cy="549075"/>
          </a:xfrm>
        </p:spPr>
        <p:txBody>
          <a:bodyPr/>
          <a:lstStyle/>
          <a:p>
            <a:r>
              <a:rPr lang="en-US" sz="2400" dirty="0"/>
              <a:t>POLICY RECOMMENDATIONS AND CONCLUSIONS 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FFCE5C-9273-B0B4-FE51-4777F8F48E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910328" cy="3959352"/>
          </a:xfrm>
        </p:spPr>
        <p:txBody>
          <a:bodyPr/>
          <a:lstStyle/>
          <a:p>
            <a:r>
              <a:rPr lang="en-US" dirty="0"/>
              <a:t>Based on our findings, we recommend an approach that addresses the emergency crises zone like savannah </a:t>
            </a:r>
          </a:p>
          <a:p>
            <a:r>
              <a:rPr lang="en-US" dirty="0"/>
              <a:t>We also recommend agricultural support and infrastructure in rural areas. </a:t>
            </a:r>
          </a:p>
          <a:p>
            <a:r>
              <a:rPr lang="en-US" dirty="0"/>
              <a:t>Invest in long-term educational projects like schools and safety nets to reduce national hunger by 2030.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7316B-779F-2995-907A-7E42077575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IMPACTS AND LESSONS </a:t>
            </a:r>
          </a:p>
          <a:p>
            <a:r>
              <a:rPr lang="en-US" dirty="0"/>
              <a:t>We were able to demonstrate that through asking the right research questions and visualizations, a practical can be developed to solve societal problems. </a:t>
            </a:r>
          </a:p>
          <a:p>
            <a:r>
              <a:rPr lang="en-US" dirty="0"/>
              <a:t>As a team, we improved our skills in python and data visualization while working with real data.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0723FF-C6F9-5963-84DC-8B0FD2967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0487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453729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682B"/>
      </a:accent1>
      <a:accent2>
        <a:srgbClr val="EFEAE7"/>
      </a:accent2>
      <a:accent3>
        <a:srgbClr val="CD1711"/>
      </a:accent3>
      <a:accent4>
        <a:srgbClr val="651B51"/>
      </a:accent4>
      <a:accent5>
        <a:srgbClr val="2C3A2E"/>
      </a:accent5>
      <a:accent6>
        <a:srgbClr val="B6A650"/>
      </a:accent6>
      <a:hlink>
        <a:srgbClr val="029B2D"/>
      </a:hlink>
      <a:folHlink>
        <a:srgbClr val="029B2D"/>
      </a:folHlink>
    </a:clrScheme>
    <a:fontScheme name="Custom 36">
      <a:majorFont>
        <a:latin typeface="Batang"/>
        <a:ea typeface=""/>
        <a:cs typeface=""/>
      </a:majorFont>
      <a:minorFont>
        <a:latin typeface="Batan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78453729_win32_SD_v5" id="{5665AA9C-4EFF-4FCC-8086-4050069C15ED}" vid="{F66CC29E-A3F9-4341-8B35-47A4E87375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B38E9C-53F4-45B7-BB77-8539BB7040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111B19-7283-4751-B1F8-E7CC95678A8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2B7AA3F-15AC-4F4D-8050-3ECF172613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{EC17B7FA-A835-42C1-9AE0-5068C761B05C}e028a05d-4f48-421c-89c7-a61c2a7392b9-TF1af4b5f9-c96c-4fa7-b535-c2be4df5a610ac3ce97f_win32</Template>
  <TotalTime>157</TotalTime>
  <Words>284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</vt:lpstr>
      <vt:lpstr>An Exploratory Analysis of Food Insecurity Patterns in Ghana.   Programming for Data Scientists  1</vt:lpstr>
      <vt:lpstr>Food Insecurity in Ghana </vt:lpstr>
      <vt:lpstr>Our 5-Dimensional Analysis  </vt:lpstr>
      <vt:lpstr>REGIONAL INEQUALITTY </vt:lpstr>
      <vt:lpstr>Socio-economic status and food insecurity</vt:lpstr>
      <vt:lpstr>Education level / Deprivation and food insecurity</vt:lpstr>
      <vt:lpstr>RURAL-URBAN ASSET DISTRIBUTION AND FOOD INSECURITY </vt:lpstr>
      <vt:lpstr>POLICY RECOMMENDATIONS AND CONCLUSIONS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Masuda Mashoud</dc:creator>
  <cp:lastModifiedBy>Masuda Mashoud</cp:lastModifiedBy>
  <cp:revision>4</cp:revision>
  <dcterms:created xsi:type="dcterms:W3CDTF">2026-02-01T03:27:24Z</dcterms:created>
  <dcterms:modified xsi:type="dcterms:W3CDTF">2026-01-31T22:07:53Z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Office Theme:7</vt:lpwstr>
  </property>
  <property fmtid="{D5CDD505-2E9C-101B-9397-08002B2CF9AE}" pid="5" name="ClassificationContentMarkingFooterText">
    <vt:lpwstr>Classified as Microsoft Confidential</vt:lpwstr>
  </property>
</Properties>
</file>